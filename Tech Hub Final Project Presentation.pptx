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6217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A5F"/>
                </a:solidFill>
                <a:latin typeface="Arial"/>
              </a:defRPr>
            </a:pPr>
            <a:r>
              <a:t>Digital Transformation Programme</a:t>
            </a:r>
          </a:p>
          <a:p>
            <a:pPr>
              <a:defRPr sz="1300">
                <a:solidFill>
                  <a:srgbClr val="5C6C7A"/>
                </a:solidFill>
                <a:latin typeface="Arial"/>
              </a:defRPr>
            </a:pPr>
            <a:r>
              <a:t>TechHub Electronics – connected omnichannel retail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6035040" cy="749808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50" b="1">
                <a:solidFill>
                  <a:srgbClr val="163A5F"/>
                </a:solidFill>
                <a:latin typeface="Arial"/>
              </a:defRPr>
            </a:pPr>
            <a:r>
              <a:t>Goal: connect the website, stores and warehouse so customers receive reliable stock promises and a seamless order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1508760" cy="82296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65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stores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657600"/>
            <a:ext cx="1508760" cy="822960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$280m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revenue basis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657600"/>
            <a:ext cx="1508760" cy="822960"/>
          </a:xfrm>
          <a:prstGeom prst="roundRect">
            <a:avLst/>
          </a:prstGeom>
          <a:solidFill>
            <a:srgbClr val="DEA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850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09160"/>
            <a:ext cx="1508760" cy="822960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4709160"/>
            <a:ext cx="1508760" cy="82296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$18.6m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709160"/>
            <a:ext cx="1508760" cy="822960"/>
          </a:xfrm>
          <a:prstGeom prst="roundRect">
            <a:avLst/>
          </a:prstGeom>
          <a:solidFill>
            <a:srgbClr val="F1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234440"/>
            <a:ext cx="4251960" cy="45262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15727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3A5F"/>
                </a:solidFill>
                <a:latin typeface="Arial"/>
              </a:defRPr>
            </a:pPr>
            <a:r>
              <a:t>Project focus</a:t>
            </a:r>
          </a:p>
          <a:p>
            <a:pPr>
              <a:defRPr sz="1150">
                <a:solidFill>
                  <a:srgbClr val="222F3B"/>
                </a:solidFill>
                <a:latin typeface="Arial"/>
              </a:defRPr>
            </a:pPr>
            <a:r>
              <a:t>Modern e-commerce, OMS/ATP, WMS, POS/store integration, trusted data, BI and change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3A5F"/>
                </a:solidFill>
                <a:latin typeface="Arial"/>
              </a:defRPr>
            </a:pPr>
            <a:r>
              <a:t>Business need</a:t>
            </a:r>
          </a:p>
          <a:p>
            <a:pPr>
              <a:defRPr sz="1150">
                <a:solidFill>
                  <a:srgbClr val="222F3B"/>
                </a:solidFill>
                <a:latin typeface="Arial"/>
              </a:defRPr>
            </a:pPr>
            <a:r>
              <a:t>TechHub must move from disconnected channels to one controlled retail operating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39136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3A5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150">
                <a:solidFill>
                  <a:srgbClr val="222F3B"/>
                </a:solidFill>
                <a:latin typeface="Arial"/>
              </a:defRPr>
            </a:pPr>
            <a:r>
              <a:t>Proceed with a pilot-first, stage-gated delivery programme that proves value before full scale rollout.</a:t>
            </a:r>
          </a:p>
        </p:txBody>
      </p:sp>
      <p:pic>
        <p:nvPicPr>
          <p:cNvPr id="19" name="Picture 18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1600200" cy="544230"/>
          </a:xfrm>
          <a:prstGeom prst="rect">
            <a:avLst/>
          </a:prstGeom>
        </p:spPr>
      </p:pic>
      <p:pic>
        <p:nvPicPr>
          <p:cNvPr id="20" name="Picture 19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7472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Business need: why TechHub must transform</a:t>
            </a:r>
          </a:p>
          <a:p>
            <a:pPr>
              <a:spcBef>
                <a:spcPts val="200"/>
              </a:spcBef>
              <a:defRPr sz="1150">
                <a:solidFill>
                  <a:srgbClr val="5C6C7A"/>
                </a:solidFill>
                <a:latin typeface="Arial"/>
              </a:defRPr>
            </a:pPr>
            <a:r>
              <a:t>Disconnected channels are constraining growth, reliability and operational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880360" cy="4892040"/>
          </a:xfrm>
          <a:prstGeom prst="roundRect">
            <a:avLst/>
          </a:prstGeom>
          <a:solidFill>
            <a:srgbClr val="F8FCFC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" b="0">
                <a:solidFill>
                  <a:srgbClr val="222F3B"/>
                </a:solidFill>
                <a:latin typeface="Arial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572768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rial"/>
              </a:defRPr>
            </a:pPr>
            <a:r>
              <a:t>Business need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220">
                <a:solidFill>
                  <a:srgbClr val="222F3B"/>
                </a:solidFill>
                <a:latin typeface="Arial"/>
              </a:defRPr>
            </a:pPr>
            <a:r>
              <a:t>TechHub needs a connected retail model because customers expect the website, stores and warehouse to work as one service.</a:t>
            </a:r>
          </a:p>
          <a:p>
            <a:pPr>
              <a:spcAft>
                <a:spcPts val="1000"/>
              </a:spcAft>
              <a:defRPr sz="1220">
                <a:solidFill>
                  <a:srgbClr val="222F3B"/>
                </a:solidFill>
                <a:latin typeface="Arial"/>
              </a:defRPr>
            </a:pPr>
            <a:r>
              <a:t>Without change, the business risks lost online sales, unreliable stock promises, manual work, fulfilment delays and inconsistent customer service.</a:t>
            </a:r>
          </a:p>
          <a:p>
            <a:pPr>
              <a:defRPr sz="1220" b="1">
                <a:solidFill>
                  <a:srgbClr val="127E7E"/>
                </a:solidFill>
                <a:latin typeface="Arial"/>
              </a:defRPr>
            </a:pPr>
            <a:r>
              <a:t>Therefore, the transformation must focus on reliable availability, controlled fulfilment, trusted data and safe adoption.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2191" y="1527048"/>
            <a:ext cx="32004" cy="4434840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9312" y="1472184"/>
            <a:ext cx="384048" cy="384048"/>
          </a:xfrm>
          <a:prstGeom prst="ellipse">
            <a:avLst/>
          </a:prstGeom>
          <a:solidFill>
            <a:srgbClr val="E74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417320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63A5F"/>
                </a:solidFill>
                <a:latin typeface="Arial"/>
              </a:defRPr>
            </a:pPr>
            <a:r>
              <a:t>Online growth is constrained</a:t>
            </a:r>
          </a:p>
          <a:p>
            <a:pPr>
              <a:defRPr sz="1040">
                <a:solidFill>
                  <a:srgbClr val="222F3B"/>
                </a:solidFill>
                <a:latin typeface="Arial"/>
              </a:defRPr>
            </a:pPr>
            <a:r>
              <a:t>Only 8% of revenue is online; the website needs stronger search, comparison, checkout, tracking and returns.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267712" cy="493776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127E7E"/>
                </a:solidFill>
                <a:latin typeface="Arial"/>
              </a:defRPr>
            </a:pPr>
            <a:r>
              <a:t>Need: Modern e-commerce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286000"/>
            <a:ext cx="7178040" cy="914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39312" y="2368296"/>
            <a:ext cx="384048" cy="384048"/>
          </a:xfrm>
          <a:prstGeom prst="ellipse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313432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63A5F"/>
                </a:solidFill>
                <a:latin typeface="Arial"/>
              </a:defRPr>
            </a:pPr>
            <a:r>
              <a:t>Stock promises are unreliable</a:t>
            </a:r>
          </a:p>
          <a:p>
            <a:pPr>
              <a:defRPr sz="1040">
                <a:solidFill>
                  <a:srgbClr val="222F3B"/>
                </a:solidFill>
                <a:latin typeface="Arial"/>
              </a:defRPr>
            </a:pPr>
            <a:r>
              <a:t>Store and warehouse stock records do not always agree, creating overselling, excess stock and weak customer promises.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359152"/>
            <a:ext cx="2267712" cy="493776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127E7E"/>
                </a:solidFill>
                <a:latin typeface="Arial"/>
              </a:defRPr>
            </a:pPr>
            <a:r>
              <a:t>Need: OMS + ATP with reservations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3182112"/>
            <a:ext cx="7178040" cy="914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39312" y="3264408"/>
            <a:ext cx="384048" cy="384048"/>
          </a:xfrm>
          <a:prstGeom prst="ellipse">
            <a:avLst/>
          </a:prstGeom>
          <a:solidFill>
            <a:srgbClr val="DEA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209544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63A5F"/>
                </a:solidFill>
                <a:latin typeface="Arial"/>
              </a:defRPr>
            </a:pPr>
            <a:r>
              <a:t>Fulfilment lacks end-to-end visibility</a:t>
            </a:r>
          </a:p>
          <a:p>
            <a:pPr>
              <a:defRPr sz="1040">
                <a:solidFill>
                  <a:srgbClr val="222F3B"/>
                </a:solidFill>
                <a:latin typeface="Arial"/>
              </a:defRPr>
            </a:pPr>
            <a:r>
              <a:t>Warehouse and store fulfilment need scanning, status updates and controlled click-and-collect / delivery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55264"/>
            <a:ext cx="2267712" cy="493776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127E7E"/>
                </a:solidFill>
                <a:latin typeface="Arial"/>
              </a:defRPr>
            </a:pPr>
            <a:r>
              <a:t>Need: WMS + store execution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4078224"/>
            <a:ext cx="7178040" cy="914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39312" y="4160520"/>
            <a:ext cx="384048" cy="384048"/>
          </a:xfrm>
          <a:prstGeom prst="ellipse">
            <a:avLst/>
          </a:prstGeom>
          <a:solidFill>
            <a:srgbClr val="F1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105656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63A5F"/>
                </a:solidFill>
                <a:latin typeface="Arial"/>
              </a:defRPr>
            </a:pPr>
            <a:r>
              <a:t>Data and service view is fragmented</a:t>
            </a:r>
          </a:p>
          <a:p>
            <a:pPr>
              <a:defRPr sz="1040">
                <a:solidFill>
                  <a:srgbClr val="222F3B"/>
                </a:solidFill>
                <a:latin typeface="Arial"/>
              </a:defRPr>
            </a:pPr>
            <a:r>
              <a:t>Customer, consent, product, price and order information is separated, slowing service and management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151376"/>
            <a:ext cx="2267712" cy="493776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127E7E"/>
                </a:solidFill>
                <a:latin typeface="Arial"/>
              </a:defRPr>
            </a:pPr>
            <a:r>
              <a:t>Need: Master data, CRM/consent and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4974336"/>
            <a:ext cx="7178040" cy="914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39312" y="5056632"/>
            <a:ext cx="384048" cy="384048"/>
          </a:xfrm>
          <a:prstGeom prst="ellipse">
            <a:avLst/>
          </a:prstGeom>
          <a:solidFill>
            <a:srgbClr val="37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01768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20" b="1">
                <a:solidFill>
                  <a:srgbClr val="163A5F"/>
                </a:solidFill>
                <a:latin typeface="Arial"/>
              </a:defRPr>
            </a:pPr>
            <a:r>
              <a:t>Large change must be controlled</a:t>
            </a:r>
          </a:p>
          <a:p>
            <a:pPr>
              <a:defRPr sz="1040">
                <a:solidFill>
                  <a:srgbClr val="222F3B"/>
                </a:solidFill>
                <a:latin typeface="Arial"/>
              </a:defRPr>
            </a:pPr>
            <a:r>
              <a:t>65 stores and 850 employees are affected, so rollout must be phased with training, support and decision gates.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047488"/>
            <a:ext cx="2267712" cy="493776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127E7E"/>
                </a:solidFill>
                <a:latin typeface="Arial"/>
              </a:defRPr>
            </a:pPr>
            <a:r>
              <a:t>Need: Pilot-first rollout and change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5989320"/>
            <a:ext cx="7772400" cy="384048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F1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63A5F"/>
                </a:solidFill>
                <a:latin typeface="Arial"/>
              </a:defRPr>
            </a:pPr>
            <a:r>
              <a:t>Transformation focus: protect revenue, improve customer trust, reduce manual effort and create one reliable management view.</a:t>
            </a:r>
          </a:p>
        </p:txBody>
      </p:sp>
      <p:pic>
        <p:nvPicPr>
          <p:cNvPr id="31" name="Picture 30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0" y="1005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7E7E"/>
                </a:solidFill>
                <a:latin typeface="Arial"/>
              </a:defRPr>
            </a:pPr>
            <a:r>
              <a:t>TECHHUB ELECTRONICS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Connected omnichannel operating model</a:t>
            </a:r>
          </a:p>
          <a:p>
            <a:pPr>
              <a:defRPr sz="1100">
                <a:solidFill>
                  <a:srgbClr val="5C6C7A"/>
                </a:solidFill>
                <a:latin typeface="Arial"/>
              </a:defRPr>
            </a:pPr>
            <a:r>
              <a:t>Regenerated visual applied to present the future-state model more clearly.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024128"/>
            <a:ext cx="10744200" cy="384048"/>
          </a:xfrm>
          <a:prstGeom prst="roundRect">
            <a:avLst/>
          </a:prstGeom>
          <a:solidFill>
            <a:srgbClr val="E6F4F4"/>
          </a:solidFill>
          <a:ln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163A5F"/>
                </a:solidFill>
                <a:latin typeface="Arial"/>
              </a:defRPr>
            </a:pPr>
            <a:r>
              <a:t>Focus: customer channels, OMS + ATP, fulfilment outcomes, enterprise systems and management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607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wide_infographic_diagram_on_a_white_backgroun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73352"/>
            <a:ext cx="10378440" cy="41503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492240"/>
            <a:ext cx="11430000" cy="13716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0" y="1005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7E7E"/>
                </a:solidFill>
                <a:latin typeface="Arial"/>
              </a:defRPr>
            </a:pPr>
            <a:r>
              <a:t>TECHHUB ELECTRONICS  | 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92240"/>
            <a:ext cx="11430000" cy="13716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02336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Target system design</a:t>
            </a:r>
          </a:p>
          <a:p>
            <a:pPr>
              <a:defRPr sz="1100">
                <a:solidFill>
                  <a:srgbClr val="5C6C7A"/>
                </a:solidFill>
                <a:latin typeface="Arial"/>
              </a:defRPr>
            </a:pPr>
            <a:r>
              <a:t>A cleaner future-state view using minimal arrows and clearer grouping.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78992"/>
            <a:ext cx="10607040" cy="384048"/>
          </a:xfrm>
          <a:prstGeom prst="roundRect">
            <a:avLst/>
          </a:prstGeom>
          <a:solidFill>
            <a:srgbClr val="F7F9FB"/>
          </a:solidFill>
          <a:ln>
            <a:solidFill>
              <a:srgbClr val="EC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6C7A"/>
                </a:solidFill>
                <a:latin typeface="Arial"/>
              </a:defRPr>
            </a:pPr>
            <a:r>
              <a:t>The future-state model is organised into four simple layers that support one connected customer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607040" cy="877824"/>
          </a:xfrm>
          <a:prstGeom prst="roundRect">
            <a:avLst/>
          </a:prstGeom>
          <a:solidFill>
            <a:srgbClr val="EFF7FB"/>
          </a:solidFill>
          <a:ln w="1651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1965960" cy="256032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CUSTOMER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28216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Responsive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728216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Stores &amp;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6328" y="1728216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Customer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728216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Delivery &amp; returns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33472"/>
            <a:ext cx="10607040" cy="877824"/>
          </a:xfrm>
          <a:prstGeom prst="roundRect">
            <a:avLst/>
          </a:prstGeom>
          <a:solidFill>
            <a:srgbClr val="F5F0FA"/>
          </a:solidFill>
          <a:ln w="1651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2770632"/>
            <a:ext cx="1965960" cy="256032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ORDER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761488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Commerce &amp;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2761488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OMS + ATP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6328" y="2761488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CRM / consent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2761488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Pricing &amp; promotions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66744"/>
            <a:ext cx="10607040" cy="877824"/>
          </a:xfrm>
          <a:prstGeom prst="roundRect">
            <a:avLst/>
          </a:prstGeom>
          <a:solidFill>
            <a:srgbClr val="FBF7EC"/>
          </a:solidFill>
          <a:ln w="16510"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3803904"/>
            <a:ext cx="1965960" cy="256032"/>
          </a:xfrm>
          <a:prstGeom prst="roundRect">
            <a:avLst/>
          </a:prstGeom>
          <a:solidFill>
            <a:srgbClr val="E98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FULFILMENT 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794759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WMS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5504" y="3794759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Store fulfilment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3794759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ERP / 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3794759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Carriers &amp; suppliers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0016"/>
            <a:ext cx="10607040" cy="877824"/>
          </a:xfrm>
          <a:prstGeom prst="roundRect">
            <a:avLst/>
          </a:prstGeom>
          <a:solidFill>
            <a:srgbClr val="F2F5F8"/>
          </a:solidFill>
          <a:ln w="16510">
            <a:solidFill>
              <a:srgbClr val="4F7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0120" y="4837176"/>
            <a:ext cx="1965960" cy="256032"/>
          </a:xfrm>
          <a:prstGeom prst="roundRect">
            <a:avLst/>
          </a:prstGeom>
          <a:solidFill>
            <a:srgbClr val="4F7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DATA, INTEGRATION &amp;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828031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7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Integration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75504" y="4828031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7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Master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6328" y="4828031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7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Power BI &amp; forecasting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17152" y="4828031"/>
            <a:ext cx="178308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7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63A5F"/>
                </a:solidFill>
                <a:latin typeface="Arial"/>
              </a:defRPr>
            </a:pPr>
            <a:r>
              <a:t>Security &amp; monitoring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897880" y="2340864"/>
            <a:ext cx="411480" cy="201168"/>
          </a:xfrm>
          <a:prstGeom prst="downArrow">
            <a:avLst/>
          </a:prstGeom>
          <a:solidFill>
            <a:srgbClr val="5C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wn Arrow 31"/>
          <p:cNvSpPr/>
          <p:nvPr/>
        </p:nvSpPr>
        <p:spPr>
          <a:xfrm>
            <a:off x="5897880" y="3374136"/>
            <a:ext cx="411480" cy="201168"/>
          </a:xfrm>
          <a:prstGeom prst="downArrow">
            <a:avLst/>
          </a:prstGeom>
          <a:solidFill>
            <a:srgbClr val="5C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own Arrow 32"/>
          <p:cNvSpPr/>
          <p:nvPr/>
        </p:nvSpPr>
        <p:spPr>
          <a:xfrm>
            <a:off x="5897880" y="4407408"/>
            <a:ext cx="411480" cy="201168"/>
          </a:xfrm>
          <a:prstGeom prst="downArrow">
            <a:avLst/>
          </a:prstGeom>
          <a:solidFill>
            <a:srgbClr val="5C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0" y="2340864"/>
            <a:ext cx="2468880" cy="256032"/>
          </a:xfrm>
          <a:prstGeom prst="roundRect">
            <a:avLst/>
          </a:prstGeom>
          <a:solidFill>
            <a:srgbClr val="E6F4F4"/>
          </a:solidFill>
          <a:ln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127E7E"/>
                </a:solidFill>
                <a:latin typeface="Arial"/>
              </a:defRPr>
            </a:pPr>
            <a:r>
              <a:t>Reservations and stock promises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407408"/>
            <a:ext cx="2743200" cy="256032"/>
          </a:xfrm>
          <a:prstGeom prst="roundRect">
            <a:avLst/>
          </a:prstGeom>
          <a:solidFill>
            <a:srgbClr val="FFF6EB"/>
          </a:solidFill>
          <a:ln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E98C36"/>
                </a:solidFill>
                <a:latin typeface="Arial"/>
              </a:defRPr>
            </a:pPr>
            <a:r>
              <a:t>Shared updates feed reporting and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852160"/>
            <a:ext cx="2468880" cy="329184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Better customer promise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5852160"/>
            <a:ext cx="2468880" cy="329184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Stronger fulfilment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5852160"/>
            <a:ext cx="2468880" cy="329184"/>
          </a:xfrm>
          <a:prstGeom prst="roundRect">
            <a:avLst/>
          </a:prstGeom>
          <a:solidFill>
            <a:srgbClr val="D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3A5F"/>
                </a:solidFill>
                <a:latin typeface="Arial"/>
              </a:defRPr>
            </a:pPr>
            <a:r>
              <a:t>Trusted management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42" name="Picture 41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7472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Recommended technology stack</a:t>
            </a:r>
          </a:p>
          <a:p>
            <a:pPr>
              <a:spcBef>
                <a:spcPts val="200"/>
              </a:spcBef>
              <a:defRPr sz="1150">
                <a:solidFill>
                  <a:srgbClr val="5C6C7A"/>
                </a:solidFill>
                <a:latin typeface="Arial"/>
              </a:defRPr>
            </a:pPr>
            <a:r>
              <a:t>Preferred platform choices aligned to the transformation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874519" cy="475488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Customer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2646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Responsive e-commerce website, mobile web, Store Commerce / POS and service touchpoints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39112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2084832"/>
            <a:ext cx="1874519" cy="475488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Commerce, OMS &amp; ATP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3969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Dynamics 365 Commerce + Distributed Order Management + Inventory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52344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EA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798064"/>
            <a:ext cx="1874519" cy="475488"/>
          </a:xfrm>
          <a:prstGeom prst="roundRect">
            <a:avLst/>
          </a:prstGeom>
          <a:solidFill>
            <a:srgbClr val="DEA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Warehouse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529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Dynamics 365 Supply Chain Management WMS + handheld scanning devices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65576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F1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511296"/>
            <a:ext cx="1874519" cy="475488"/>
          </a:xfrm>
          <a:prstGeom prst="roundRect">
            <a:avLst/>
          </a:prstGeom>
          <a:solidFill>
            <a:srgbClr val="F1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Customer service &amp; 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Dynamics 365 Customer Service + Customer Insights as a conditional customer/consent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78808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4224528"/>
            <a:ext cx="1874519" cy="475488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Data, analytics &amp;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793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Power BI / Fabric, demand planning, forecasting and replenishment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92040"/>
            <a:ext cx="7315200" cy="5669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1874519" cy="475488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70" b="1">
                <a:solidFill>
                  <a:srgbClr val="FFFFFF"/>
                </a:solidFill>
                <a:latin typeface="Arial"/>
              </a:defRPr>
            </a:pPr>
            <a:r>
              <a:t>Platform &amp;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99262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222F3B"/>
                </a:solidFill>
                <a:latin typeface="Arial"/>
              </a:defRPr>
            </a:pPr>
            <a:r>
              <a:t>Azure integration, identity, monitoring, security, privacy and payment controls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25880"/>
            <a:ext cx="2971800" cy="4526280"/>
          </a:xfrm>
          <a:prstGeom prst="roundRect">
            <a:avLst/>
          </a:prstGeom>
          <a:solidFill>
            <a:srgbClr val="F1F9F9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20" y="169164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3A5F"/>
                </a:solidFill>
                <a:latin typeface="Arial"/>
              </a:defRPr>
            </a:pPr>
            <a:r>
              <a:t>Do not replace ERP first</a:t>
            </a:r>
          </a:p>
          <a:p>
            <a:pPr>
              <a:spcAft>
                <a:spcPts val="1000"/>
              </a:spcAft>
              <a:defRPr sz="1060">
                <a:solidFill>
                  <a:srgbClr val="222F3B"/>
                </a:solidFill>
                <a:latin typeface="Arial"/>
              </a:defRPr>
            </a:pPr>
            <a:r>
              <a:t>Start with fit-gap and integration; avoid unnecessary core risk.</a:t>
            </a:r>
          </a:p>
          <a:p>
            <a:pPr>
              <a:defRPr sz="1250" b="1">
                <a:solidFill>
                  <a:srgbClr val="163A5F"/>
                </a:solidFill>
                <a:latin typeface="Arial"/>
              </a:defRPr>
            </a:pPr>
            <a:r>
              <a:t>CRM is conditional</a:t>
            </a:r>
          </a:p>
          <a:p>
            <a:pPr>
              <a:spcAft>
                <a:spcPts val="1000"/>
              </a:spcAft>
              <a:defRPr sz="1060">
                <a:solidFill>
                  <a:srgbClr val="222F3B"/>
                </a:solidFill>
                <a:latin typeface="Arial"/>
              </a:defRPr>
            </a:pPr>
            <a:r>
              <a:t>Release if discovery confirms customer, consent and loyalty value.</a:t>
            </a:r>
          </a:p>
          <a:p>
            <a:pPr>
              <a:defRPr sz="1250" b="1">
                <a:solidFill>
                  <a:srgbClr val="163A5F"/>
                </a:solidFill>
                <a:latin typeface="Arial"/>
              </a:defRPr>
            </a:pPr>
            <a:r>
              <a:t>Commercial platforms first</a:t>
            </a:r>
          </a:p>
          <a:p>
            <a:pPr>
              <a:spcAft>
                <a:spcPts val="1000"/>
              </a:spcAft>
              <a:defRPr sz="1060">
                <a:solidFill>
                  <a:srgbClr val="222F3B"/>
                </a:solidFill>
                <a:latin typeface="Arial"/>
              </a:defRPr>
            </a:pPr>
            <a:r>
              <a:t>Configure proven platforms instead of custom-building the 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5285232"/>
            <a:ext cx="2514600" cy="438912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Outcome: scalable and supportable retail platform.</a:t>
            </a:r>
          </a:p>
        </p:txBody>
      </p:sp>
      <p:pic>
        <p:nvPicPr>
          <p:cNvPr id="29" name="Picture 28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7472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Delivery roadmap – 36 months</a:t>
            </a:r>
          </a:p>
          <a:p>
            <a:pPr>
              <a:spcBef>
                <a:spcPts val="200"/>
              </a:spcBef>
              <a:defRPr sz="1150">
                <a:solidFill>
                  <a:srgbClr val="5C6C7A"/>
                </a:solidFill>
                <a:latin typeface="Arial"/>
              </a:defRPr>
            </a:pPr>
            <a:r>
              <a:t>Three simple phases, six decision gates and pilot-first rollout.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063240" cy="86868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  <a:br/>
            <a:r>
              <a:t>Foundation</a:t>
            </a:r>
            <a:br/>
            <a:r>
              <a:t>Months 1–9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063240" cy="2011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164592" rIns="146304" rtlCol="0" anchor="ctr"/>
          <a:lstStyle/>
          <a:p>
            <a:pPr algn="ctr"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Discovery and baselines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Requirements and process design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Data, security and architecture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Vendor fit-gap and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063240" cy="868680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  <a:br/>
            <a:r>
              <a:t>Pilot &amp; launch</a:t>
            </a:r>
            <a:br/>
            <a:r>
              <a:t>Months 10–24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063240" cy="2011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164592" rIns="146304" rtlCol="0" anchor="ctr"/>
          <a:lstStyle/>
          <a:p>
            <a:pPr algn="ctr"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Website + WMS pilot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OMS / ATP and stock visibility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POS / store fulfilment integration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Training and change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063240" cy="868680"/>
          </a:xfrm>
          <a:prstGeom prst="roundRect">
            <a:avLst/>
          </a:prstGeom>
          <a:solidFill>
            <a:srgbClr val="F1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  <a:br/>
            <a:r>
              <a:t>Scale &amp; optimise</a:t>
            </a:r>
            <a:br/>
            <a:r>
              <a:t>Months 25–36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14600"/>
            <a:ext cx="3063240" cy="2011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F1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164592" rIns="146304" rtlCol="0" anchor="ctr"/>
          <a:lstStyle/>
          <a:p>
            <a:pPr algn="ctr"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65-store omnichannel rollout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Conditional CRM / service integration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BI, forecasting and optimisation</a:t>
            </a:r>
          </a:p>
          <a:p>
            <a:pPr>
              <a:spcAft>
                <a:spcPts val="500"/>
              </a:spcAft>
              <a:defRPr sz="1100">
                <a:solidFill>
                  <a:srgbClr val="222F3B"/>
                </a:solidFill>
                <a:latin typeface="Arial"/>
              </a:defRPr>
            </a:pPr>
            <a:r>
              <a:t>BAU handover and benefits sustainment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5349240"/>
            <a:ext cx="8321040" cy="320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28800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7" name="Oval 16"/>
          <p:cNvSpPr/>
          <p:nvPr/>
        </p:nvSpPr>
        <p:spPr>
          <a:xfrm>
            <a:off x="3493008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157216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1" name="Oval 20"/>
          <p:cNvSpPr/>
          <p:nvPr/>
        </p:nvSpPr>
        <p:spPr>
          <a:xfrm>
            <a:off x="6821424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Pilot exit</a:t>
            </a:r>
          </a:p>
        </p:txBody>
      </p:sp>
      <p:sp>
        <p:nvSpPr>
          <p:cNvPr id="23" name="Oval 22"/>
          <p:cNvSpPr/>
          <p:nvPr/>
        </p:nvSpPr>
        <p:spPr>
          <a:xfrm>
            <a:off x="8485632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Rollout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5148072"/>
            <a:ext cx="393192" cy="393192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G6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596128"/>
            <a:ext cx="960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>
                <a:solidFill>
                  <a:srgbClr val="5C6C7A"/>
                </a:solidFill>
                <a:latin typeface="Arial"/>
              </a:defRPr>
            </a:pPr>
            <a:r>
              <a:t>Handover</a:t>
            </a:r>
          </a:p>
        </p:txBody>
      </p:sp>
      <p:pic>
        <p:nvPicPr>
          <p:cNvPr id="27" name="Picture 26" descr="9d778c44-ef28-5531-afdf-d9db03a60d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0" y="1005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7E7E"/>
                </a:solidFill>
                <a:latin typeface="Arial"/>
              </a:defRPr>
            </a:pPr>
            <a:r>
              <a:t>TECHHUB ELECTRONICS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Detailed 36-month roadmap</a:t>
            </a:r>
          </a:p>
          <a:p>
            <a:pPr>
              <a:defRPr sz="1100">
                <a:solidFill>
                  <a:srgbClr val="5C6C7A"/>
                </a:solidFill>
                <a:latin typeface="Arial"/>
              </a:defRPr>
            </a:pPr>
            <a:r>
              <a:t>Workstreams, delivery months and decision gates for controlled rollout.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42415"/>
            <a:ext cx="10561320" cy="329184"/>
          </a:xfrm>
          <a:prstGeom prst="roundRect">
            <a:avLst/>
          </a:prstGeom>
          <a:solidFill>
            <a:srgbClr val="E6F4F4"/>
          </a:solidFill>
          <a:ln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63A5F"/>
                </a:solidFill>
                <a:latin typeface="Arial"/>
              </a:defRPr>
            </a:pPr>
            <a:r>
              <a:t>Foundation first, pilot/launch second, then scale and optimise with gates G1–G6.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81328"/>
            <a:ext cx="9464040" cy="4864608"/>
          </a:xfrm>
          <a:prstGeom prst="roundRect">
            <a:avLst/>
          </a:prstGeom>
          <a:solidFill>
            <a:srgbClr val="FFFFFF"/>
          </a:solidFill>
          <a:ln>
            <a:solidFill>
              <a:srgbClr val="EC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481328"/>
            <a:ext cx="8641080" cy="48631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492240"/>
            <a:ext cx="11430000" cy="13716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0" y="1005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7E7E"/>
                </a:solidFill>
                <a:latin typeface="Arial"/>
              </a:defRPr>
            </a:pPr>
            <a:r>
              <a:t>TECHHUB ELECTRONICS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3A5F"/>
                </a:solidFill>
                <a:latin typeface="Arial"/>
              </a:defRPr>
            </a:pPr>
            <a:r>
              <a:t>Stakeholder engagement overview</a:t>
            </a:r>
          </a:p>
          <a:p>
            <a:pPr>
              <a:defRPr sz="1050">
                <a:solidFill>
                  <a:srgbClr val="5C6C7A"/>
                </a:solidFill>
                <a:latin typeface="Arial"/>
              </a:defRPr>
            </a:pPr>
            <a:r>
              <a:t>Priority groups, engagement approach and main concerns.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78992"/>
            <a:ext cx="10168128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C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133856"/>
            <a:ext cx="10012680" cy="56351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6492240"/>
            <a:ext cx="11430000" cy="13716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7472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Benefits, measures and recommendation</a:t>
            </a:r>
          </a:p>
          <a:p>
            <a:pPr>
              <a:spcBef>
                <a:spcPts val="200"/>
              </a:spcBef>
              <a:defRPr sz="1150">
                <a:solidFill>
                  <a:srgbClr val="5C6C7A"/>
                </a:solidFill>
                <a:latin typeface="Arial"/>
              </a:defRPr>
            </a:pPr>
            <a:r>
              <a:t>Clear success measures and commercial rationale.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4206240" cy="5074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63A5F"/>
                </a:solidFill>
                <a:latin typeface="Arial"/>
              </a:defRPr>
            </a:pPr>
            <a:r>
              <a:t>Key targets by Month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3566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22F3B"/>
                </a:solidFill>
                <a:latin typeface="Arial"/>
              </a:defRPr>
            </a:pPr>
            <a:r>
              <a:t>Digital revenue contribution</a:t>
            </a:r>
          </a:p>
          <a:p>
            <a:pPr algn="r">
              <a:defRPr sz="1130" b="1">
                <a:solidFill>
                  <a:srgbClr val="127E7E"/>
                </a:solidFill>
                <a:latin typeface="Arial"/>
              </a:defRPr>
            </a:pPr>
            <a:r>
              <a:t>8%  →  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68880"/>
            <a:ext cx="3566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22F3B"/>
                </a:solidFill>
                <a:latin typeface="Arial"/>
              </a:defRPr>
            </a:pPr>
            <a:r>
              <a:t>Warehouse inventory accuracy</a:t>
            </a:r>
          </a:p>
          <a:p>
            <a:pPr algn="r">
              <a:defRPr sz="1130" b="1">
                <a:solidFill>
                  <a:srgbClr val="127E7E"/>
                </a:solidFill>
                <a:latin typeface="Arial"/>
              </a:defRPr>
            </a:pPr>
            <a:r>
              <a:t>≥98.5%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17520"/>
            <a:ext cx="3566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22F3B"/>
                </a:solidFill>
                <a:latin typeface="Arial"/>
              </a:defRPr>
            </a:pPr>
            <a:r>
              <a:t>Collection orders ready on time</a:t>
            </a:r>
          </a:p>
          <a:p>
            <a:pPr algn="r">
              <a:defRPr sz="1130" b="1">
                <a:solidFill>
                  <a:srgbClr val="127E7E"/>
                </a:solidFill>
                <a:latin typeface="Arial"/>
              </a:defRPr>
            </a:pPr>
            <a:r>
              <a:t>≥95%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3566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22F3B"/>
                </a:solidFill>
                <a:latin typeface="Arial"/>
              </a:defRPr>
            </a:pPr>
            <a:r>
              <a:t>Stock message processing</a:t>
            </a:r>
          </a:p>
          <a:p>
            <a:pPr algn="r">
              <a:defRPr sz="1130" b="1">
                <a:solidFill>
                  <a:srgbClr val="127E7E"/>
                </a:solidFill>
                <a:latin typeface="Arial"/>
              </a:defRPr>
            </a:pPr>
            <a:r>
              <a:t>≥99.5%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14800"/>
            <a:ext cx="3566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22F3B"/>
                </a:solidFill>
                <a:latin typeface="Arial"/>
              </a:defRPr>
            </a:pPr>
            <a:r>
              <a:t>Employee adoption / proficiency</a:t>
            </a:r>
          </a:p>
          <a:p>
            <a:pPr algn="r">
              <a:defRPr sz="1130" b="1">
                <a:solidFill>
                  <a:srgbClr val="127E7E"/>
                </a:solidFill>
                <a:latin typeface="Arial"/>
              </a:defRPr>
            </a:pPr>
            <a:r>
              <a:t>≥90%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83480"/>
            <a:ext cx="1078992" cy="658368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$18.6m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9968" y="4983480"/>
            <a:ext cx="1078992" cy="658368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14.5%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3-year ROI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91256" y="4983480"/>
            <a:ext cx="1078992" cy="658368"/>
          </a:xfrm>
          <a:prstGeom prst="roundRect">
            <a:avLst/>
          </a:prstGeom>
          <a:solidFill>
            <a:srgbClr val="F1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M33</a:t>
            </a:r>
          </a:p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t>payback</a:t>
            </a:r>
          </a:p>
        </p:txBody>
      </p:sp>
      <p:pic>
        <p:nvPicPr>
          <p:cNvPr id="18" name="Picture 1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98448"/>
            <a:ext cx="6217920" cy="337916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321808" y="5687568"/>
            <a:ext cx="5806440" cy="438912"/>
          </a:xfrm>
          <a:prstGeom prst="roundRect">
            <a:avLst/>
          </a:prstGeom>
          <a:solidFill>
            <a:srgbClr val="E2F3F3"/>
          </a:solidFill>
          <a:ln w="12700"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20" b="1">
                <a:solidFill>
                  <a:srgbClr val="163A5F"/>
                </a:solidFill>
                <a:latin typeface="Arial"/>
              </a:defRPr>
            </a:pPr>
            <a:r>
              <a:t>Recommendation: proceed with staged implementation, pilots, controlled rollout and benefits tracking.</a:t>
            </a:r>
          </a:p>
        </p:txBody>
      </p:sp>
      <p:pic>
        <p:nvPicPr>
          <p:cNvPr id="20" name="Picture 19" descr="9d778c44-ef28-5531-afdf-d9db03a60d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0" y="1005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27E7E"/>
                </a:solidFill>
                <a:latin typeface="Arial"/>
              </a:defRPr>
            </a:pPr>
            <a:r>
              <a:t>TECHHUB ELECTRONICS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rial"/>
              </a:defRPr>
            </a:pPr>
            <a:r>
              <a:t>Investment and benefits projection</a:t>
            </a:r>
          </a:p>
          <a:p>
            <a:pPr>
              <a:defRPr sz="1100">
                <a:solidFill>
                  <a:srgbClr val="5C6C7A"/>
                </a:solidFill>
                <a:latin typeface="Arial"/>
              </a:defRPr>
            </a:pPr>
            <a:r>
              <a:t>Three-year cost profile, projected benefits and payback summary.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024128"/>
            <a:ext cx="10744200" cy="347472"/>
          </a:xfrm>
          <a:prstGeom prst="roundRect">
            <a:avLst/>
          </a:prstGeom>
          <a:solidFill>
            <a:srgbClr val="E6F4F4"/>
          </a:solidFill>
          <a:ln>
            <a:solidFill>
              <a:srgbClr val="12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163A5F"/>
                </a:solidFill>
                <a:latin typeface="Arial"/>
              </a:defRPr>
            </a:pPr>
            <a:r>
              <a:t>These tables show the programme investment, expected benefits, net gain and estimated payback timing.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7E7E"/>
                </a:solidFill>
                <a:latin typeface="Arial"/>
              </a:defRPr>
            </a:pPr>
            <a:r>
              <a:t>7.1  Three-year investment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7726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category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Software licences / subscriptions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$4.3m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Hardware and infrastructure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$0.9m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$1.3m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$0.4m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$2.6m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Implementation and integration services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$2.9m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$6.4m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Data migration, testing and security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$0.6m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$0.8m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$0.3m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$1.7m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Training and change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$0.4m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Internal programme resources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$0.5m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$0.6m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$0.3m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$1.4m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Contingency reserve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$0.4m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$0.9m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Total investment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$6.2m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$4.3m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$18.6m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732520" y="1737360"/>
            <a:ext cx="269748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C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79408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3A5F"/>
                </a:solidFill>
                <a:latin typeface="Arial"/>
              </a:defRPr>
            </a:pPr>
            <a:r>
              <a:t>Commercial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2212848"/>
            <a:ext cx="2194560" cy="438912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$18.6m</a:t>
            </a:r>
          </a:p>
          <a:p>
            <a:pPr algn="ctr">
              <a:defRPr sz="800">
                <a:solidFill>
                  <a:srgbClr val="FFFFFF"/>
                </a:solidFill>
                <a:latin typeface="Arial"/>
              </a:defRPr>
            </a:pPr>
            <a:r>
              <a:t>Total investment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761488"/>
            <a:ext cx="2194560" cy="438912"/>
          </a:xfrm>
          <a:prstGeom prst="round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$21.3m</a:t>
            </a:r>
          </a:p>
          <a:p>
            <a:pPr algn="ctr">
              <a:defRPr sz="800">
                <a:solidFill>
                  <a:srgbClr val="FFFFFF"/>
                </a:solidFill>
                <a:latin typeface="Arial"/>
              </a:defRPr>
            </a:pPr>
            <a:r>
              <a:t>Total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3310128"/>
            <a:ext cx="2194560" cy="438912"/>
          </a:xfrm>
          <a:prstGeom prst="roundRect">
            <a:avLst/>
          </a:prstGeom>
          <a:solidFill>
            <a:srgbClr val="398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$2.7m</a:t>
            </a:r>
          </a:p>
          <a:p>
            <a:pPr algn="ctr">
              <a:defRPr sz="800">
                <a:solidFill>
                  <a:srgbClr val="FFFFFF"/>
                </a:solidFill>
                <a:latin typeface="Arial"/>
              </a:defRPr>
            </a:pPr>
            <a:r>
              <a:t>Net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1596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27E7E"/>
                </a:solidFill>
                <a:latin typeface="Arial"/>
              </a:defRPr>
            </a:pPr>
            <a:r>
              <a:t>7.2  Benefits projection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4572000"/>
          <a:ext cx="772668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Benefit category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6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Revenue growth benefits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$3.2m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$11.0m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Inventory cost savings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$0.1m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$0.8m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$1.8m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$2.7m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Warehouse efficiency gains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$0.1m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$0.7m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$2.3m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Service, reporting and marketing efficiency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$0.4m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$1.8m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$3.1m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0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$5.3m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Total benefits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$1.2m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$6.5m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$13.6m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37434F"/>
                          </a:solidFill>
                          <a:latin typeface="Arial"/>
                        </a:defRPr>
                      </a:pPr>
                      <a:r>
                        <a:t>$21.3m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732520" y="4498848"/>
            <a:ext cx="26974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98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3739" y="4654296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8C36"/>
                </a:solidFill>
                <a:latin typeface="Arial"/>
              </a:defRPr>
            </a:pPr>
            <a:r>
              <a:rPr dirty="0"/>
              <a:t>Payback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9377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C6C7A"/>
                </a:solidFill>
                <a:latin typeface="Arial"/>
              </a:defRPr>
            </a:pPr>
            <a:r>
              <a:t>ROI (3 years)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1206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50" b="1">
                <a:solidFill>
                  <a:srgbClr val="127E7E"/>
                </a:solidFill>
                <a:latin typeface="Arial"/>
              </a:defRPr>
            </a:pPr>
            <a:r>
              <a:t>14.5%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44068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C6C7A"/>
                </a:solidFill>
                <a:latin typeface="Arial"/>
              </a:defRPr>
            </a:pPr>
            <a:r>
              <a:t>Estimated 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6235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E98C36"/>
                </a:solidFill>
                <a:latin typeface="Arial"/>
              </a:defRPr>
            </a:pPr>
            <a:r>
              <a:t>Around Month 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92240"/>
            <a:ext cx="11430000" cy="13716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C6C7A"/>
                </a:solidFill>
                <a:latin typeface="Arial"/>
              </a:defRPr>
            </a:pPr>
            <a:r>
              <a:t>BCS Capstone Project  |  TechHub Electronics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36792"/>
            <a:ext cx="1325880" cy="4509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A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1216</Words>
  <Application>Microsoft Office PowerPoint</Application>
  <PresentationFormat>Widescreen</PresentationFormat>
  <Paragraphs>271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Shanaka Govinna</cp:lastModifiedBy>
  <cp:revision>2</cp:revision>
  <dcterms:created xsi:type="dcterms:W3CDTF">2013-01-27T09:14:16Z</dcterms:created>
  <dcterms:modified xsi:type="dcterms:W3CDTF">2026-09-12T14:35:05Z</dcterms:modified>
  <cp:category/>
</cp:coreProperties>
</file>